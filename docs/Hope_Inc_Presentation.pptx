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640080" cy="64008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932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Hope, Inc.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 Management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4114800" cy="36576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02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</a:rPr>
              <a:t>Customer Management</a:t>
            </a:r>
            <a:endParaRPr lang="en-US" sz="4200" dirty="0"/>
          </a:p>
          <a:p>
            <a:pPr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</a:rPr>
              <a:t>System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BS Information Technology Capstone Project  |  6-Week Plan  |  Hope, Inc.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645920" cy="868680"/>
          </a:xfrm>
          <a:prstGeom prst="rect">
            <a:avLst/>
          </a:prstGeom>
          <a:solidFill>
            <a:srgbClr val="1D4ED8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77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3931920"/>
            <a:ext cx="1645920" cy="868680"/>
          </a:xfrm>
          <a:prstGeom prst="rect">
            <a:avLst/>
          </a:prstGeom>
          <a:solidFill>
            <a:srgbClr val="1D4ED8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3977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6888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3931920"/>
            <a:ext cx="1645920" cy="868680"/>
          </a:xfrm>
          <a:prstGeom prst="rect">
            <a:avLst/>
          </a:prstGeom>
          <a:solidFill>
            <a:srgbClr val="1D4ED8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0" y="3977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8912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Products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3931920"/>
            <a:ext cx="1645920" cy="868680"/>
          </a:xfrm>
          <a:prstGeom prst="rect">
            <a:avLst/>
          </a:prstGeom>
          <a:solidFill>
            <a:srgbClr val="1D4ED8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3977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Sprints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457200"/>
            <a:ext cx="1463040" cy="4206240"/>
          </a:xfrm>
          <a:prstGeom prst="rect">
            <a:avLst/>
          </a:prstGeom>
          <a:solidFill>
            <a:srgbClr val="1D4ED8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640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</a:rPr>
              <a:t>SPRINT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</a:rPr>
              <a:t>Setup &amp; Auth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4380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</a:rPr>
              <a:t>SPRINT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</a:rPr>
              <a:t>CRUD &amp; Rights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43800" y="3200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</a:rPr>
              <a:t>SPRINT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</a:rPr>
              <a:t>Reports &amp; Deploy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56032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Customer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Full CRUD — Add, Edit, Soft Delete, Recover. 82 seeded accounts.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5603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Sales 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947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124 transactions. Click any record to drill into line items.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51560"/>
            <a:ext cx="25603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Product Catalogue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947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57 products with current prices from priceHist. Read-only.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2560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Rights &amp; Access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867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user types × 9 rights. Sidebar and buttons are fully gated.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25603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918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User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867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activates accounts. SUPERADMIN rows are protected.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71800"/>
            <a:ext cx="2560320" cy="7315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Deployed on Vercel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867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Live at hopecms-589r.vercel.app. Auth via Supabase.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 Relationships  —  ERD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194560" cy="347472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969264"/>
            <a:ext cx="54864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9692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CRUD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261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custno (PK)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517904"/>
            <a:ext cx="219456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517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custname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73936"/>
            <a:ext cx="21945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7739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address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219456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029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payterm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21945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286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record_status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542032"/>
            <a:ext cx="219456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542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stamp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914400"/>
            <a:ext cx="2194560" cy="188366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14400"/>
            <a:ext cx="2194560" cy="347472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914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969264"/>
            <a:ext cx="54864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9692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View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0" y="1261872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1261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transNo (PK)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1517904"/>
            <a:ext cx="219456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1517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salesDate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1773936"/>
            <a:ext cx="21945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310128" y="17739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custNo (FK)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2029968"/>
            <a:ext cx="219456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3310128" y="2029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empNo (FK)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914400"/>
            <a:ext cx="219456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914400"/>
            <a:ext cx="2743200" cy="34747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1792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salesDetail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0" y="969264"/>
            <a:ext cx="54864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9692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View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126480" y="1261872"/>
            <a:ext cx="274320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6236208" y="12618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transNo+prodCode (PK)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1517904"/>
            <a:ext cx="274320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15179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quantity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914400"/>
            <a:ext cx="2743200" cy="85953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3200400"/>
            <a:ext cx="2194560" cy="347472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29184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54880" y="3255264"/>
            <a:ext cx="54864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32552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View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200400" y="3547872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9" name="Text 47"/>
          <p:cNvSpPr/>
          <p:nvPr/>
        </p:nvSpPr>
        <p:spPr>
          <a:xfrm>
            <a:off x="3310128" y="3547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prodCode (PK)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0" y="3803904"/>
            <a:ext cx="219456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3310128" y="3803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0" y="4059936"/>
            <a:ext cx="21945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310128" y="40599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unit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3200400"/>
            <a:ext cx="2194560" cy="111556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26480" y="3200400"/>
            <a:ext cx="2743200" cy="347472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1792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priceHist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229600" y="3255264"/>
            <a:ext cx="54864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32552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View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126480" y="3547872"/>
            <a:ext cx="274320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0" name="Text 58"/>
          <p:cNvSpPr/>
          <p:nvPr/>
        </p:nvSpPr>
        <p:spPr>
          <a:xfrm>
            <a:off x="6236208" y="35478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effDate+prodCode (PK)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26480" y="3803904"/>
            <a:ext cx="274320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6236208" y="38039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unitPrice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26480" y="3200400"/>
            <a:ext cx="2743200" cy="85953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68880" y="1463040"/>
            <a:ext cx="73152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ysDash"/>
          </a:ln>
        </p:spPr>
      </p:sp>
      <p:sp>
        <p:nvSpPr>
          <p:cNvPr id="65" name="Text 63"/>
          <p:cNvSpPr/>
          <p:nvPr/>
        </p:nvSpPr>
        <p:spPr>
          <a:xfrm>
            <a:off x="2331720" y="1371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1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154680" y="1371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N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394960" y="1463040"/>
            <a:ext cx="7315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ysDash"/>
          </a:ln>
        </p:spPr>
      </p:sp>
      <p:sp>
        <p:nvSpPr>
          <p:cNvPr id="68" name="Text 66"/>
          <p:cNvSpPr/>
          <p:nvPr/>
        </p:nvSpPr>
        <p:spPr>
          <a:xfrm>
            <a:off x="5257800" y="1371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080760" y="1371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394960" y="3657600"/>
            <a:ext cx="73152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ysDash"/>
          </a:ln>
        </p:spPr>
      </p:sp>
      <p:sp>
        <p:nvSpPr>
          <p:cNvPr id="71" name="Text 69"/>
          <p:cNvSpPr/>
          <p:nvPr/>
        </p:nvSpPr>
        <p:spPr>
          <a:xfrm>
            <a:off x="5257800" y="3566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080760" y="3566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498080" y="2103120"/>
            <a:ext cx="0" cy="1097280"/>
          </a:xfrm>
          <a:prstGeom prst="line">
            <a:avLst/>
          </a:prstGeom>
          <a:noFill/>
          <a:ln w="12700">
            <a:solidFill>
              <a:srgbClr val="DC2626"/>
            </a:solidFill>
            <a:prstDash val="sysDash"/>
          </a:ln>
        </p:spPr>
      </p:sp>
      <p:sp>
        <p:nvSpPr>
          <p:cNvPr id="74" name="Text 7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★ record_status &amp; stamp added to customer only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Rights Matrix  —  3 Users × 9 Rights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1005840"/>
            <a:ext cx="722376" cy="4114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005840"/>
            <a:ext cx="722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SUPERADMIN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65376" y="1005840"/>
            <a:ext cx="722376" cy="41148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65376" y="1005840"/>
            <a:ext cx="722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33472" y="1005840"/>
            <a:ext cx="722376" cy="4114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005840"/>
            <a:ext cx="722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463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CUST_VIEW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1463040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3876" y="1499616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3876" y="1499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65376" y="1463040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061972" y="1499616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1499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33472" y="1463040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830068" y="1499616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0068" y="1499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1847088"/>
            <a:ext cx="77724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18470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CUST_ADD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97280" y="1847088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1293876" y="1883664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3876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65376" y="1847088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2061972" y="1883664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1972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33472" y="1847088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0068" y="1883664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0068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231136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22311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CUST_EDIT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97280" y="2231136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293876" y="2267712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93876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65376" y="2231136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061972" y="2267712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61972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33472" y="2231136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830068" y="2267712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0068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615184"/>
            <a:ext cx="77724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26151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CUST_DEL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2615184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Shape 45"/>
          <p:cNvSpPr/>
          <p:nvPr/>
        </p:nvSpPr>
        <p:spPr>
          <a:xfrm>
            <a:off x="1293876" y="2651760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93876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65376" y="2615184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2061972" y="265176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61972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33472" y="2615184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0068" y="265176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0068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✗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2999232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29992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SALES_VIEW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97280" y="2999232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293876" y="3035808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93876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865376" y="2999232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2061972" y="3035808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61972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633472" y="2999232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2830068" y="3035808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0068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3383280"/>
            <a:ext cx="77724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Text 65"/>
          <p:cNvSpPr/>
          <p:nvPr/>
        </p:nvSpPr>
        <p:spPr>
          <a:xfrm>
            <a:off x="320040" y="33832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SD_VIEW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097280" y="3383280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9" name="Shape 67"/>
          <p:cNvSpPr/>
          <p:nvPr/>
        </p:nvSpPr>
        <p:spPr>
          <a:xfrm>
            <a:off x="1293876" y="3419856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93876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865376" y="3383280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Shape 70"/>
          <p:cNvSpPr/>
          <p:nvPr/>
        </p:nvSpPr>
        <p:spPr>
          <a:xfrm>
            <a:off x="2061972" y="3419856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61972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633472" y="3383280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5" name="Shape 73"/>
          <p:cNvSpPr/>
          <p:nvPr/>
        </p:nvSpPr>
        <p:spPr>
          <a:xfrm>
            <a:off x="2830068" y="3419856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30068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74320" y="3767328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320040" y="37673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PROD_VIEW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097280" y="3767328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1293876" y="3803904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293876" y="3803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1865376" y="3767328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2061972" y="3803904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061972" y="3803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633472" y="3767328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2830068" y="3803904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830068" y="3803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74320" y="4151376"/>
            <a:ext cx="77724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87"/>
          <p:cNvSpPr/>
          <p:nvPr/>
        </p:nvSpPr>
        <p:spPr>
          <a:xfrm>
            <a:off x="320040" y="41513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PRICE_VIEW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097280" y="4151376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1" name="Shape 89"/>
          <p:cNvSpPr/>
          <p:nvPr/>
        </p:nvSpPr>
        <p:spPr>
          <a:xfrm>
            <a:off x="1293876" y="4187952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93876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865376" y="4151376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Shape 92"/>
          <p:cNvSpPr/>
          <p:nvPr/>
        </p:nvSpPr>
        <p:spPr>
          <a:xfrm>
            <a:off x="2061972" y="4187952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061972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2633472" y="4151376"/>
            <a:ext cx="722376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" name="Shape 95"/>
          <p:cNvSpPr/>
          <p:nvPr/>
        </p:nvSpPr>
        <p:spPr>
          <a:xfrm>
            <a:off x="2830068" y="4187952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830068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274320" y="4535424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320040" y="45354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ADM_USER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097280" y="4535424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293876" y="4572000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293876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865376" y="4535424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061972" y="4572000"/>
            <a:ext cx="320040" cy="3200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061972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633472" y="4535424"/>
            <a:ext cx="72237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830068" y="457200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830068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✗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4114800" y="4663440"/>
            <a:ext cx="228600" cy="22860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663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✓  Granted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5669280" y="4663440"/>
            <a:ext cx="228600" cy="2286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943600" y="4663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 Denied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Customer CRUD  —  Add &amp; Edit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Directory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024128"/>
            <a:ext cx="914400" cy="23774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024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+ Add Customer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6400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Cust No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Name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88920" y="132588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Pay Term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20440" y="132588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Status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51960" y="1325880"/>
            <a:ext cx="6400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600200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6002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C0001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0120" y="1600200"/>
            <a:ext cx="1828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Globus Medical, Inc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1600200"/>
            <a:ext cx="731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16002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30D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20440" y="1600200"/>
            <a:ext cx="731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566160" y="1664208"/>
            <a:ext cx="594360" cy="18288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16642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</a:rPr>
              <a:t>ACTIVE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251960" y="1600200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16002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•••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1920240"/>
            <a:ext cx="6400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19202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C0002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60120" y="1920240"/>
            <a:ext cx="182880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1920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RF Industries, Inc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88920" y="1920240"/>
            <a:ext cx="73152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2834640" y="1920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45D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20440" y="1920240"/>
            <a:ext cx="73152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3566160" y="1984248"/>
            <a:ext cx="594360" cy="18288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/>
        </p:spPr>
      </p:sp>
      <p:sp>
        <p:nvSpPr>
          <p:cNvPr id="39" name="Text 37"/>
          <p:cNvSpPr/>
          <p:nvPr/>
        </p:nvSpPr>
        <p:spPr>
          <a:xfrm>
            <a:off x="3566160" y="19842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</a:rPr>
              <a:t>ACTIVE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251960" y="1920240"/>
            <a:ext cx="6400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4251960" y="1920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•••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2240280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224028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C0003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60120" y="2240280"/>
            <a:ext cx="1828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" y="2240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Trisha Macdowell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88920" y="2240280"/>
            <a:ext cx="731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834640" y="2240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COD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520440" y="2240280"/>
            <a:ext cx="731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3566160" y="2304288"/>
            <a:ext cx="594360" cy="18288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3566160" y="23042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</a:rPr>
              <a:t>ACTIVE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251960" y="2240280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251960" y="2240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•••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2560320"/>
            <a:ext cx="6400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25603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C0004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60120" y="2560320"/>
            <a:ext cx="182880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1005840" y="25603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HMS Holdings, Inc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88920" y="2560320"/>
            <a:ext cx="73152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2834640" y="25603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45D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520440" y="2560320"/>
            <a:ext cx="73152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58"/>
          <p:cNvSpPr/>
          <p:nvPr/>
        </p:nvSpPr>
        <p:spPr>
          <a:xfrm>
            <a:off x="3566160" y="2624328"/>
            <a:ext cx="594360" cy="18288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/>
        </p:spPr>
      </p:sp>
      <p:sp>
        <p:nvSpPr>
          <p:cNvPr id="61" name="Text 59"/>
          <p:cNvSpPr/>
          <p:nvPr/>
        </p:nvSpPr>
        <p:spPr>
          <a:xfrm>
            <a:off x="3566160" y="26243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</a:rPr>
              <a:t>ACTIVE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251960" y="2560320"/>
            <a:ext cx="6400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1"/>
          <p:cNvSpPr/>
          <p:nvPr/>
        </p:nvSpPr>
        <p:spPr>
          <a:xfrm>
            <a:off x="4251960" y="25603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•••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2880360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28803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C0005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60120" y="2880360"/>
            <a:ext cx="1828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" y="28803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Christian Andersen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88920" y="2880360"/>
            <a:ext cx="731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2834640" y="2880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COD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20440" y="2880360"/>
            <a:ext cx="731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3566160" y="2944368"/>
            <a:ext cx="594360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72" name="Text 70"/>
          <p:cNvSpPr/>
          <p:nvPr/>
        </p:nvSpPr>
        <p:spPr>
          <a:xfrm>
            <a:off x="3566160" y="29443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INACTIVE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251960" y="2880360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4251960" y="2880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•••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840480" y="914400"/>
            <a:ext cx="5029200" cy="402336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114800" y="1097280"/>
            <a:ext cx="47548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114800" y="1097280"/>
            <a:ext cx="475488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8" name="Text 76"/>
          <p:cNvSpPr/>
          <p:nvPr/>
        </p:nvSpPr>
        <p:spPr>
          <a:xfrm>
            <a:off x="429768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New Customer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297680" y="14904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Add a new account to the system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503920" y="1188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✕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297680" y="1810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Customer No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297680" y="2011680"/>
            <a:ext cx="42976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97680" y="2404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Customer Name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297680" y="2606040"/>
            <a:ext cx="42976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97680" y="2999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Address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297680" y="3200400"/>
            <a:ext cx="42976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97680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Pay Term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297680" y="3794760"/>
            <a:ext cx="42976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794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COD  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858000" y="4434840"/>
            <a:ext cx="1920240" cy="292608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6858000" y="4434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 Customer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577840" y="4434840"/>
            <a:ext cx="109728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577840" y="4434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Cancel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Customer CRUD  —  Soft Delete &amp; Recovery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Active Customer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Record visible to all user types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22402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13055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0972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97280"/>
            <a:ext cx="201168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🗑️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Soft Delete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1762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Status → INACTIVE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Stamp records who deleted &amp; when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22402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13055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97280"/>
            <a:ext cx="20116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🙈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Hidden from USER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1762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 cannot see INACTIVE records.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Only ADMIN/SUPERADMIN can.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75120" y="22402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13055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0" y="10972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097280"/>
            <a:ext cx="20116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494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Recovery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1762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clicks Recover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Status → ACTIVE again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Business Rules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0050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No hard deletes — records are NEVER permanently removed from the database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Only SUPERADMIN (CUST_DEL = 1) can soft-delete a customer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ADMIN and SUPERADMIN can recover INACTIVE customers via Deleted Customers page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Stamp column records the action date — hidden from USER accounts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 Drill-Down  —  Customer → Transactions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07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20040" cy="3200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978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Step 1: Click Customer No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1115568"/>
            <a:ext cx="274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6012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978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Step 2: View Sales History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115568"/>
            <a:ext cx="274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96012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978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Step 3: Click Transaction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Globus Medical, Inc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1874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C0001  |  2560 Gen Armistead Ave Audubon CA 94031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1508760"/>
            <a:ext cx="1005840" cy="64008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15270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4ED8"/>
                </a:solidFill>
              </a:rPr>
              <a:t>Pay Term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30352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30D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1508760"/>
            <a:ext cx="1005840" cy="64008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15270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Status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40080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ACTIVE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98080" y="1508760"/>
            <a:ext cx="1005840" cy="640080"/>
          </a:xfrm>
          <a:prstGeom prst="rect">
            <a:avLst/>
          </a:prstGeom>
          <a:solidFill>
            <a:srgbClr val="F3E8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15270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Transactions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49808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2514600"/>
            <a:ext cx="8595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2578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Sales History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25968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transactions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2880360"/>
            <a:ext cx="27432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Trans No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63240" y="2880360"/>
            <a:ext cx="32004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315468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2880360"/>
            <a:ext cx="26517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Emp 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154680"/>
            <a:ext cx="274320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1546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TR000001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063240" y="3154680"/>
            <a:ext cx="320040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3154680" y="3154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2010-06-27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63640" y="3154680"/>
            <a:ext cx="265176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3154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00005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502152"/>
            <a:ext cx="27432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3502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TR000006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63240" y="3502152"/>
            <a:ext cx="3200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3154680" y="3502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2010-07-07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3502152"/>
            <a:ext cx="265176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3502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00005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3849624"/>
            <a:ext cx="2743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38496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TR000017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063240" y="3849624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154680" y="38496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2010-07-12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63640" y="3849624"/>
            <a:ext cx="26517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38496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00005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4ED8"/>
                </a:solidFill>
              </a:rPr>
              <a:t>← Click any Transaction No to view line items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 Drill-Down  —  Transaction → Line Items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978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Step 1: Click Customer No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1115568"/>
            <a:ext cx="274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60120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978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Step 2: View Sales History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115568"/>
            <a:ext cx="274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960120"/>
            <a:ext cx="320040" cy="3200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978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Step 3: Click Transaction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1536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Sales History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828800"/>
            <a:ext cx="13716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828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Trans No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91640" y="1828800"/>
            <a:ext cx="13716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1828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63240" y="1828800"/>
            <a:ext cx="9144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Emp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084832"/>
            <a:ext cx="36576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2084832"/>
            <a:ext cx="137160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0848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TR000001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91640" y="2084832"/>
            <a:ext cx="137160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8" name="Text 26"/>
          <p:cNvSpPr/>
          <p:nvPr/>
        </p:nvSpPr>
        <p:spPr>
          <a:xfrm>
            <a:off x="1737360" y="20848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2010-06-27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63240" y="2084832"/>
            <a:ext cx="91440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0" y="20848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00005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2432304"/>
            <a:ext cx="1371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4323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TR000006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91640" y="2432304"/>
            <a:ext cx="1371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1737360" y="24323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2010-07-07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63240" y="2432304"/>
            <a:ext cx="914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3108960" y="2432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00005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2779776"/>
            <a:ext cx="1371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7797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TR000017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91640" y="2779776"/>
            <a:ext cx="1371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737360" y="27797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2010-07-12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779776"/>
            <a:ext cx="914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108960" y="27797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00005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89120" y="1463040"/>
            <a:ext cx="44805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389120" y="1463040"/>
            <a:ext cx="4480560" cy="347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0" y="1490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Transaction: TR000001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589520" y="15179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line items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434840" y="1847088"/>
            <a:ext cx="2286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4480560" y="18470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Product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720840" y="1847088"/>
            <a:ext cx="73152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6766560" y="18470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Qty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52360" y="1847088"/>
            <a:ext cx="118872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0" y="18470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Unit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434840" y="2103120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48056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Micro Innovations Kb (AK0002)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720840" y="2103120"/>
            <a:ext cx="731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0" y="21031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52360" y="2103120"/>
            <a:ext cx="1188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498080" y="2103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434840" y="2468880"/>
            <a:ext cx="228600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8"/>
          <p:cNvSpPr/>
          <p:nvPr/>
        </p:nvSpPr>
        <p:spPr>
          <a:xfrm>
            <a:off x="4480560" y="2468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IMICRO KB-IM8911U (AM0003)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720840" y="2468880"/>
            <a:ext cx="7315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0" y="24688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52360" y="2468880"/>
            <a:ext cx="11887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7498080" y="2468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pc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434840" y="2834640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4480560" y="28346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ASUS VS228H-P 22-In (MD0001)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720840" y="2834640"/>
            <a:ext cx="731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6766560" y="28346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52360" y="2834640"/>
            <a:ext cx="1188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7498080" y="2834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ea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434840" y="3200400"/>
            <a:ext cx="228600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480560" y="3200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Dell 745 Opti Desk (PC0002)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720840" y="3200400"/>
            <a:ext cx="7315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Text 72"/>
          <p:cNvSpPr/>
          <p:nvPr/>
        </p:nvSpPr>
        <p:spPr>
          <a:xfrm>
            <a:off x="6766560" y="32004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452360" y="3200400"/>
            <a:ext cx="11887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Text 74"/>
          <p:cNvSpPr/>
          <p:nvPr/>
        </p:nvSpPr>
        <p:spPr>
          <a:xfrm>
            <a:off x="7498080" y="3200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ea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Data sourced from salesDetail table — joins product for description and priceHist for unit price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Customer Sales Summary  —  Report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09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📊  Powered by customer_sales_summary SQL view  —  JOINs customer + sales + salesDetail + priceHist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73152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544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Cust No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1560" y="1554480"/>
            <a:ext cx="210312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5544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Name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54680" y="1554480"/>
            <a:ext cx="82296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5544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Pay Term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77640" y="1554480"/>
            <a:ext cx="91440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554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Transactions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92040" y="1554480"/>
            <a:ext cx="137160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554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Total Spend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63640" y="1554480"/>
            <a:ext cx="146304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54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Last Sale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847088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8470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C0001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51560" y="1847088"/>
            <a:ext cx="21031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18470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Globus Medical, Inc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1847088"/>
            <a:ext cx="822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1920240"/>
            <a:ext cx="640080" cy="173736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192024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30D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977640" y="1847088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1847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1847088"/>
            <a:ext cx="1371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847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₱312,500.00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1847088"/>
            <a:ext cx="14630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8470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2010-07-12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2176272"/>
            <a:ext cx="7315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21762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C0009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51560" y="2176272"/>
            <a:ext cx="21031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2176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Landec Corp.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54680" y="2176272"/>
            <a:ext cx="82296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0" y="2249424"/>
            <a:ext cx="640080" cy="173736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2249424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30D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977640" y="2176272"/>
            <a:ext cx="9144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4023360" y="21762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2176272"/>
            <a:ext cx="13716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21762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₱289,200.00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63640" y="2176272"/>
            <a:ext cx="14630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21762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2011-03-30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2505456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250545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C0026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51560" y="2505456"/>
            <a:ext cx="21031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097280" y="25054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Datapop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54680" y="2505456"/>
            <a:ext cx="822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3200400" y="2578608"/>
            <a:ext cx="640080" cy="173736"/>
          </a:xfrm>
          <a:prstGeom prst="roundRect">
            <a:avLst>
              <a:gd name="adj" fmla="val 26316"/>
            </a:avLst>
          </a:prstGeom>
          <a:solidFill>
            <a:srgbClr val="EDE9FE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0" y="2578608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45D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977640" y="2505456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023360" y="250545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92040" y="2505456"/>
            <a:ext cx="1371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0" y="25054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₱245,000.00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2505456"/>
            <a:ext cx="14630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309360" y="25054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2011-01-10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0040" y="2834640"/>
            <a:ext cx="7315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2834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C0011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051560" y="2834640"/>
            <a:ext cx="21031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1097280" y="2834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B&amp;G Foods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154680" y="2834640"/>
            <a:ext cx="82296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Shape 62"/>
          <p:cNvSpPr/>
          <p:nvPr/>
        </p:nvSpPr>
        <p:spPr>
          <a:xfrm>
            <a:off x="3200400" y="2907792"/>
            <a:ext cx="640080" cy="173736"/>
          </a:xfrm>
          <a:prstGeom prst="roundRect">
            <a:avLst>
              <a:gd name="adj" fmla="val 26316"/>
            </a:avLst>
          </a:prstGeom>
          <a:solidFill>
            <a:srgbClr val="EDE9FE"/>
          </a:solidFill>
          <a:ln/>
        </p:spPr>
      </p:sp>
      <p:sp>
        <p:nvSpPr>
          <p:cNvPr id="65" name="Text 63"/>
          <p:cNvSpPr/>
          <p:nvPr/>
        </p:nvSpPr>
        <p:spPr>
          <a:xfrm>
            <a:off x="3200400" y="2907792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45D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977640" y="2834640"/>
            <a:ext cx="9144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Text 65"/>
          <p:cNvSpPr/>
          <p:nvPr/>
        </p:nvSpPr>
        <p:spPr>
          <a:xfrm>
            <a:off x="4023360" y="28346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92040" y="2834640"/>
            <a:ext cx="13716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9" name="Text 67"/>
          <p:cNvSpPr/>
          <p:nvPr/>
        </p:nvSpPr>
        <p:spPr>
          <a:xfrm>
            <a:off x="493776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₱198,500.00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63640" y="2834640"/>
            <a:ext cx="14630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1" name="Text 69"/>
          <p:cNvSpPr/>
          <p:nvPr/>
        </p:nvSpPr>
        <p:spPr>
          <a:xfrm>
            <a:off x="630936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2010-12-10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0040" y="3163824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316382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C0021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51560" y="3163824"/>
            <a:ext cx="21031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1097280" y="31638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Touch Suite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154680" y="3163824"/>
            <a:ext cx="822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3200400" y="3236976"/>
            <a:ext cx="640080" cy="173736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/>
        </p:spPr>
      </p:sp>
      <p:sp>
        <p:nvSpPr>
          <p:cNvPr id="78" name="Text 76"/>
          <p:cNvSpPr/>
          <p:nvPr/>
        </p:nvSpPr>
        <p:spPr>
          <a:xfrm>
            <a:off x="3200400" y="3236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30D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977640" y="3163824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4023360" y="316382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892040" y="3163824"/>
            <a:ext cx="1371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4937760" y="316382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₱175,300.00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63640" y="3163824"/>
            <a:ext cx="14630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6309360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2010-10-05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20040" y="3493008"/>
            <a:ext cx="7315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34930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C0002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051560" y="3493008"/>
            <a:ext cx="21031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8" name="Text 86"/>
          <p:cNvSpPr/>
          <p:nvPr/>
        </p:nvSpPr>
        <p:spPr>
          <a:xfrm>
            <a:off x="1097280" y="34930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RF Industries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154680" y="3493008"/>
            <a:ext cx="82296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0" name="Shape 88"/>
          <p:cNvSpPr/>
          <p:nvPr/>
        </p:nvSpPr>
        <p:spPr>
          <a:xfrm>
            <a:off x="3200400" y="3566160"/>
            <a:ext cx="640080" cy="173736"/>
          </a:xfrm>
          <a:prstGeom prst="roundRect">
            <a:avLst>
              <a:gd name="adj" fmla="val 26316"/>
            </a:avLst>
          </a:prstGeom>
          <a:solidFill>
            <a:srgbClr val="EDE9FE"/>
          </a:solidFill>
          <a:ln/>
        </p:spPr>
      </p:sp>
      <p:sp>
        <p:nvSpPr>
          <p:cNvPr id="91" name="Text 89"/>
          <p:cNvSpPr/>
          <p:nvPr/>
        </p:nvSpPr>
        <p:spPr>
          <a:xfrm>
            <a:off x="3200400" y="356616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45D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977640" y="3493008"/>
            <a:ext cx="9144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3" name="Text 91"/>
          <p:cNvSpPr/>
          <p:nvPr/>
        </p:nvSpPr>
        <p:spPr>
          <a:xfrm>
            <a:off x="4023360" y="34930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892040" y="3493008"/>
            <a:ext cx="13716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Text 93"/>
          <p:cNvSpPr/>
          <p:nvPr/>
        </p:nvSpPr>
        <p:spPr>
          <a:xfrm>
            <a:off x="4937760" y="34930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₱162,000.00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263640" y="3493008"/>
            <a:ext cx="14630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7" name="Text 95"/>
          <p:cNvSpPr/>
          <p:nvPr/>
        </p:nvSpPr>
        <p:spPr>
          <a:xfrm>
            <a:off x="630936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2010-09-05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47548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Showing 1–10 of 82 customers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858000" y="4764024"/>
            <a:ext cx="219456" cy="21945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1" name="Text 99"/>
          <p:cNvSpPr/>
          <p:nvPr/>
        </p:nvSpPr>
        <p:spPr>
          <a:xfrm>
            <a:off x="6858000" y="4764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‹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104888" y="4764024"/>
            <a:ext cx="219456" cy="21945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3" name="Text 101"/>
          <p:cNvSpPr/>
          <p:nvPr/>
        </p:nvSpPr>
        <p:spPr>
          <a:xfrm>
            <a:off x="7104888" y="4764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351776" y="4764024"/>
            <a:ext cx="219456" cy="21945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5" name="Text 103"/>
          <p:cNvSpPr/>
          <p:nvPr/>
        </p:nvSpPr>
        <p:spPr>
          <a:xfrm>
            <a:off x="7351776" y="4764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598664" y="4764024"/>
            <a:ext cx="219456" cy="21945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7" name="Text 105"/>
          <p:cNvSpPr/>
          <p:nvPr/>
        </p:nvSpPr>
        <p:spPr>
          <a:xfrm>
            <a:off x="7598664" y="4764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7845552" y="4764024"/>
            <a:ext cx="219456" cy="21945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9" name="Text 107"/>
          <p:cNvSpPr/>
          <p:nvPr/>
        </p:nvSpPr>
        <p:spPr>
          <a:xfrm>
            <a:off x="7845552" y="4764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...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8092440" y="4764024"/>
            <a:ext cx="219456" cy="21945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1" name="Text 109"/>
          <p:cNvSpPr/>
          <p:nvPr/>
        </p:nvSpPr>
        <p:spPr>
          <a:xfrm>
            <a:off x="8092440" y="4764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8339328" y="4764024"/>
            <a:ext cx="219456" cy="21945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3" name="Text 111"/>
          <p:cNvSpPr/>
          <p:nvPr/>
        </p:nvSpPr>
        <p:spPr>
          <a:xfrm>
            <a:off x="8339328" y="4764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›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⚛️ Frontend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09344"/>
            <a:ext cx="182880" cy="182880"/>
          </a:xfrm>
          <a:prstGeom prst="ellipse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React 18 + Vite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20824"/>
            <a:ext cx="182880" cy="182880"/>
          </a:xfrm>
          <a:prstGeom prst="ellipse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65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182880" cy="182880"/>
          </a:xfrm>
          <a:prstGeom prst="ellipse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React Router v6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843784"/>
            <a:ext cx="182880" cy="182880"/>
          </a:xfrm>
          <a:prstGeom prst="ellipse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Lucide Icons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2468880" cy="274320"/>
          </a:xfrm>
          <a:prstGeom prst="rect">
            <a:avLst/>
          </a:prstGeom>
          <a:solidFill>
            <a:srgbClr val="1D4ED8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D4ED8"/>
                </a:solidFill>
              </a:rPr>
              <a:t>SPA deployed on Vercel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9184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Backend / Auth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1609344"/>
            <a:ext cx="182880" cy="18288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Supabase Auth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2020824"/>
            <a:ext cx="182880" cy="18288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1965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Google OAuth 2.0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2432304"/>
            <a:ext cx="182880" cy="18288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Email/Password Auth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843784"/>
            <a:ext cx="182880" cy="18288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Login Guard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977640"/>
            <a:ext cx="246888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Managed by Supabase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1792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🗄️ Database Layer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1609344"/>
            <a:ext cx="182880" cy="182880"/>
          </a:xfrm>
          <a:prstGeom prst="ellipse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PostgreSQL (Supabase)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2020824"/>
            <a:ext cx="182880" cy="182880"/>
          </a:xfrm>
          <a:prstGeom prst="ellipse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1965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Row Level Security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2432304"/>
            <a:ext cx="182880" cy="182880"/>
          </a:xfrm>
          <a:prstGeom prst="ellipse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 HopeDB Tables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2843784"/>
            <a:ext cx="182880" cy="182880"/>
          </a:xfrm>
          <a:prstGeom prst="ellipse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SQL Views + Triggers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3977640"/>
            <a:ext cx="2468880" cy="27432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59669"/>
                </a:solidFill>
              </a:rPr>
              <a:t>Hosted on Supabase Cloud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4531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🚀  Deployment Pipeline:  GitHub (main) → Vercel (auto-deploy) → https://hopecms-589r.vercel.app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Lessons Learned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11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Technical Lessons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45720" cy="50292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Row Level Security requires careful policy design — overly permissive USING(true) must be avoided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45720" cy="50292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94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Supabase column names are always lowercase — enforcing consistent naming prevents runtime errors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926080"/>
            <a:ext cx="45720" cy="50292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React Strict Mode conflicts with Supabase's gotrue-js localStorage locking mechanism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657600"/>
            <a:ext cx="45720" cy="50292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57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OAuth redirect URLs must be registered in both Google Cloud Console and Supabase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Process Lessons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463040"/>
            <a:ext cx="45720" cy="502920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Branching strategy (feat/*, db/*, test/*) enforces clean separation of concerns across PRs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2194560"/>
            <a:ext cx="45720" cy="502920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194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Sprint gates — verifying row counts and test cases before advancing — prevent accumulating bugs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2926080"/>
            <a:ext cx="45720" cy="502920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926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Seed data must match the professor's exact HopeDB file to ensure consistent test results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3657600"/>
            <a:ext cx="45720" cy="502920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657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Vercel deployment requires vercel.json SPA rewrite config to prevent 404 on direct URL access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Shape 4"/>
          <p:cNvSpPr/>
          <p:nvPr/>
        </p:nvSpPr>
        <p:spPr>
          <a:xfrm>
            <a:off x="3977640" y="731520"/>
            <a:ext cx="1188720" cy="118872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77640" y="731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1D4ED8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Hope, Inc.  |  Customer Management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356616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Questions &amp; Answers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645920" cy="685800"/>
          </a:xfrm>
          <a:prstGeom prst="rect">
            <a:avLst/>
          </a:prstGeom>
          <a:solidFill>
            <a:srgbClr val="1D4ED8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315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645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Sprints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4297680"/>
            <a:ext cx="1645920" cy="685800"/>
          </a:xfrm>
          <a:prstGeom prst="rect">
            <a:avLst/>
          </a:prstGeom>
          <a:solidFill>
            <a:srgbClr val="1D4ED8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4315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4645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Tests Pass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4297680"/>
            <a:ext cx="1645920" cy="685800"/>
          </a:xfrm>
          <a:prstGeom prst="rect">
            <a:avLst/>
          </a:prstGeom>
          <a:solidFill>
            <a:srgbClr val="1D4ED8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4315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54880" y="4645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Customers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66560" y="4297680"/>
            <a:ext cx="1645920" cy="685800"/>
          </a:xfrm>
          <a:prstGeom prst="rect">
            <a:avLst/>
          </a:prstGeom>
          <a:solidFill>
            <a:srgbClr val="1D4ED8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4315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Live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66560" y="4645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Vercel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4400" y="4937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https://hopecms-589r.vercel.app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Hope, Inc. Customer Management System</dc:title>
  <dc:subject>PptxGenJS Presentation</dc:subject>
  <dc:creator>PptxGenJS</dc:creator>
  <cp:lastModifiedBy>PptxGenJS</cp:lastModifiedBy>
  <cp:revision>1</cp:revision>
  <dcterms:created xsi:type="dcterms:W3CDTF">2026-05-12T23:56:20Z</dcterms:created>
  <dcterms:modified xsi:type="dcterms:W3CDTF">2026-05-12T23:56:20Z</dcterms:modified>
</cp:coreProperties>
</file>